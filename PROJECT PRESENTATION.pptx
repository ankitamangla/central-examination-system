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8" r:id="rId3"/>
    <p:sldId id="257"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7" d="100"/>
          <a:sy n="67" d="100"/>
        </p:scale>
        <p:origin x="6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16" name="Rectangle 15"/>
          <p:cNvSpPr/>
          <p:nvPr/>
        </p:nvSpPr>
        <p:spPr>
          <a:xfrm>
            <a:off x="0" y="0"/>
            <a:ext cx="12192000" cy="6858000"/>
          </a:xfrm>
          <a:prstGeom prst="rect">
            <a:avLst/>
          </a:prstGeom>
          <a:blipFill dpi="0" rotWithShape="1">
            <a:blip r:embed="rId2">
              <a:alphaModFix amt="45000"/>
              <a:duotone>
                <a:schemeClr val="accent1">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11" name="Rectangle 10"/>
          <p:cNvSpPr/>
          <p:nvPr/>
        </p:nvSpPr>
        <p:spPr>
          <a:xfrm>
            <a:off x="1447801"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15" name="Rectangle 14"/>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4" name="Group 3"/>
          <p:cNvGrpSpPr/>
          <p:nvPr/>
        </p:nvGrpSpPr>
        <p:grpSpPr>
          <a:xfrm>
            <a:off x="5250180" y="1267730"/>
            <a:ext cx="1691640" cy="645295"/>
            <a:chOff x="5318306" y="1386268"/>
            <a:chExt cx="1567331" cy="645295"/>
          </a:xfrm>
        </p:grpSpPr>
        <p:cxnSp>
          <p:nvCxnSpPr>
            <p:cNvPr id="17" name="Straight Connector 16"/>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ctrTitle"/>
          </p:nvPr>
        </p:nvSpPr>
        <p:spPr>
          <a:xfrm>
            <a:off x="1561708" y="2091263"/>
            <a:ext cx="9068586" cy="2590800"/>
          </a:xfrm>
        </p:spPr>
        <p:txBody>
          <a:bodyPr tIns="45720" bIns="45720" anchor="ctr">
            <a:noAutofit/>
          </a:bodyPr>
          <a:lstStyle>
            <a:lvl1pPr algn="ctr">
              <a:lnSpc>
                <a:spcPct val="83000"/>
              </a:lnSpc>
              <a:defRPr lang="en-US" sz="7200" b="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Subtitle 2"/>
          <p:cNvSpPr>
            <a:spLocks noGrp="1"/>
          </p:cNvSpPr>
          <p:nvPr>
            <p:ph type="subTitle" idx="1"/>
          </p:nvPr>
        </p:nvSpPr>
        <p:spPr>
          <a:xfrm>
            <a:off x="1562100" y="4682062"/>
            <a:ext cx="9070848" cy="457201"/>
          </a:xfrm>
        </p:spPr>
        <p:txBody>
          <a:bodyPr>
            <a:normAutofit/>
          </a:bodyPr>
          <a:lstStyle>
            <a:lvl1pPr marL="0" indent="0" algn="ctr">
              <a:spcBef>
                <a:spcPts val="0"/>
              </a:spcBef>
              <a:buNone/>
              <a:defRPr sz="1600" spc="80" baseline="0">
                <a:solidFill>
                  <a:schemeClr val="tx1"/>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0" name="Date Placeholder 19"/>
          <p:cNvSpPr>
            <a:spLocks noGrp="1"/>
          </p:cNvSpPr>
          <p:nvPr>
            <p:ph type="dt" sz="half" idx="10"/>
          </p:nvPr>
        </p:nvSpPr>
        <p:spPr>
          <a:xfrm>
            <a:off x="5318760" y="1341255"/>
            <a:ext cx="1554480" cy="527213"/>
          </a:xfrm>
        </p:spPr>
        <p:txBody>
          <a:bodyPr/>
          <a:lstStyle>
            <a:lvl1pPr algn="ctr">
              <a:defRPr sz="1300" spc="0" baseline="0">
                <a:solidFill>
                  <a:schemeClr val="tx1"/>
                </a:solidFill>
                <a:latin typeface="+mn-lt"/>
              </a:defRPr>
            </a:lvl1pPr>
          </a:lstStyle>
          <a:p>
            <a:fld id="{0FDE0D57-847C-4E83-BADC-6FFCA0814D3D}" type="datetimeFigureOut">
              <a:rPr lang="en-US" smtClean="0"/>
              <a:t>29-Mar-19</a:t>
            </a:fld>
            <a:endParaRPr lang="en-US"/>
          </a:p>
        </p:txBody>
      </p:sp>
      <p:sp>
        <p:nvSpPr>
          <p:cNvPr id="21" name="Footer Placeholder 20"/>
          <p:cNvSpPr>
            <a:spLocks noGrp="1"/>
          </p:cNvSpPr>
          <p:nvPr>
            <p:ph type="ftr" sz="quarter" idx="11"/>
          </p:nvPr>
        </p:nvSpPr>
        <p:spPr>
          <a:xfrm>
            <a:off x="1453896" y="5211060"/>
            <a:ext cx="5905500" cy="228600"/>
          </a:xfrm>
        </p:spPr>
        <p:txBody>
          <a:bodyPr/>
          <a:lstStyle>
            <a:lvl1pPr algn="l">
              <a:defRPr>
                <a:solidFill>
                  <a:schemeClr val="tx1">
                    <a:lumMod val="75000"/>
                    <a:lumOff val="25000"/>
                  </a:schemeClr>
                </a:solidFill>
              </a:defRPr>
            </a:lvl1pPr>
          </a:lstStyle>
          <a:p>
            <a:endParaRPr lang="en-US"/>
          </a:p>
        </p:txBody>
      </p:sp>
      <p:sp>
        <p:nvSpPr>
          <p:cNvPr id="22" name="Slide Number Placeholder 21"/>
          <p:cNvSpPr>
            <a:spLocks noGrp="1"/>
          </p:cNvSpPr>
          <p:nvPr>
            <p:ph type="sldNum" sz="quarter" idx="12"/>
          </p:nvPr>
        </p:nvSpPr>
        <p:spPr>
          <a:xfrm>
            <a:off x="8606919" y="5212080"/>
            <a:ext cx="2111881" cy="228600"/>
          </a:xfrm>
        </p:spPr>
        <p:txBody>
          <a:bodyPr/>
          <a:lstStyle>
            <a:lvl1pPr>
              <a:defRPr>
                <a:solidFill>
                  <a:schemeClr val="tx1">
                    <a:lumMod val="75000"/>
                    <a:lumOff val="25000"/>
                  </a:schemeClr>
                </a:solidFill>
              </a:defRPr>
            </a:lvl1pPr>
          </a:lstStyle>
          <a:p>
            <a:fld id="{02E8B338-5F18-45B1-AF09-DCC73302D894}" type="slidenum">
              <a:rPr lang="en-US" smtClean="0"/>
              <a:t>‹#›</a:t>
            </a:fld>
            <a:endParaRPr lang="en-US"/>
          </a:p>
        </p:txBody>
      </p:sp>
    </p:spTree>
    <p:extLst>
      <p:ext uri="{BB962C8B-B14F-4D97-AF65-F5344CB8AC3E}">
        <p14:creationId xmlns:p14="http://schemas.microsoft.com/office/powerpoint/2010/main" val="970694665"/>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DE0D57-847C-4E83-BADC-6FFCA0814D3D}" type="datetimeFigureOut">
              <a:rPr lang="en-US" smtClean="0"/>
              <a:t>29-Mar-19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39527468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22" name="Rectangle 21"/>
          <p:cNvSpPr/>
          <p:nvPr/>
        </p:nvSpPr>
        <p:spPr>
          <a:xfrm>
            <a:off x="0" y="0"/>
            <a:ext cx="12192000" cy="6858000"/>
          </a:xfrm>
          <a:prstGeom prst="rect">
            <a:avLst/>
          </a:prstGeom>
          <a:blipFill dpi="0" rotWithShape="1">
            <a:blip r:embed="rId2">
              <a:alphaModFix amt="45000"/>
              <a:duotone>
                <a:schemeClr val="accent2">
                  <a:shade val="45000"/>
                  <a:satMod val="135000"/>
                </a:schemeClr>
                <a:prstClr val="white"/>
              </a:duotone>
            </a:blip>
            <a:srcRect/>
            <a:tile tx="-44450" ty="38100" sx="85000" sy="85000" flip="none" algn="tl"/>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3" name="Rectangle 22"/>
          <p:cNvSpPr/>
          <p:nvPr/>
        </p:nvSpPr>
        <p:spPr>
          <a:xfrm>
            <a:off x="1307870" y="1267730"/>
            <a:ext cx="9576262" cy="4307950"/>
          </a:xfrm>
          <a:prstGeom prst="rect">
            <a:avLst/>
          </a:prstGeom>
          <a:solidFill>
            <a:schemeClr val="bg1"/>
          </a:solidFill>
          <a:ln w="6350" cap="flat" cmpd="sng" algn="ctr">
            <a:noFill/>
            <a:prstDash val="solid"/>
          </a:ln>
          <a:effectLst>
            <a:outerShdw blurRad="50800" algn="ctr" rotWithShape="0">
              <a:prstClr val="black">
                <a:alpha val="66000"/>
              </a:prstClr>
            </a:outerShdw>
            <a:softEdge rad="0"/>
          </a:effectLst>
        </p:spPr>
      </p:sp>
      <p:sp>
        <p:nvSpPr>
          <p:cNvPr id="24" name="Rectangle 23"/>
          <p:cNvSpPr/>
          <p:nvPr/>
        </p:nvSpPr>
        <p:spPr>
          <a:xfrm>
            <a:off x="1447800" y="1411615"/>
            <a:ext cx="9296400" cy="4034770"/>
          </a:xfrm>
          <a:prstGeom prst="rect">
            <a:avLst/>
          </a:prstGeom>
          <a:noFill/>
          <a:ln w="6350" cap="sq" cmpd="sng" algn="ctr">
            <a:solidFill>
              <a:schemeClr val="tx1">
                <a:lumMod val="75000"/>
                <a:lumOff val="25000"/>
              </a:schemeClr>
            </a:solidFill>
            <a:prstDash val="solid"/>
            <a:miter lim="800000"/>
          </a:ln>
          <a:effectLst/>
        </p:spPr>
      </p:sp>
      <p:sp>
        <p:nvSpPr>
          <p:cNvPr id="30" name="Rectangle 29"/>
          <p:cNvSpPr/>
          <p:nvPr/>
        </p:nvSpPr>
        <p:spPr>
          <a:xfrm>
            <a:off x="5135880" y="1267730"/>
            <a:ext cx="1920240" cy="73152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31" name="Group 30"/>
          <p:cNvGrpSpPr/>
          <p:nvPr/>
        </p:nvGrpSpPr>
        <p:grpSpPr>
          <a:xfrm>
            <a:off x="5250180" y="1267730"/>
            <a:ext cx="1691640" cy="645295"/>
            <a:chOff x="5318306" y="1386268"/>
            <a:chExt cx="1567331" cy="645295"/>
          </a:xfrm>
        </p:grpSpPr>
        <p:cxnSp>
          <p:nvCxnSpPr>
            <p:cNvPr id="32" name="Straight Connector 31"/>
            <p:cNvCxnSpPr/>
            <p:nvPr/>
          </p:nvCxnSpPr>
          <p:spPr>
            <a:xfrm>
              <a:off x="5318306"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p:nvPr/>
          </p:nvCxnSpPr>
          <p:spPr>
            <a:xfrm>
              <a:off x="6885637" y="1386268"/>
              <a:ext cx="0" cy="64008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a:off x="5318306" y="2031563"/>
              <a:ext cx="1567331" cy="0"/>
            </a:xfrm>
            <a:prstGeom prst="line">
              <a:avLst/>
            </a:prstGeom>
            <a:solidFill>
              <a:schemeClr val="tx1">
                <a:lumMod val="85000"/>
                <a:lumOff val="15000"/>
              </a:schemeClr>
            </a:solidFill>
            <a:ln>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Title 1"/>
          <p:cNvSpPr>
            <a:spLocks noGrp="1"/>
          </p:cNvSpPr>
          <p:nvPr>
            <p:ph type="title"/>
          </p:nvPr>
        </p:nvSpPr>
        <p:spPr>
          <a:xfrm>
            <a:off x="1563623" y="2094309"/>
            <a:ext cx="9070848" cy="2587752"/>
          </a:xfrm>
        </p:spPr>
        <p:txBody>
          <a:bodyPr anchor="ctr">
            <a:noAutofit/>
          </a:bodyPr>
          <a:lstStyle>
            <a:lvl1pPr algn="ctr">
              <a:lnSpc>
                <a:spcPct val="83000"/>
              </a:lnSpc>
              <a:defRPr lang="en-US" sz="7200" kern="1200" cap="all" spc="-100" baseline="0" dirty="0">
                <a:solidFill>
                  <a:schemeClr val="tx1">
                    <a:lumMod val="85000"/>
                    <a:lumOff val="15000"/>
                  </a:schemeClr>
                </a:solidFill>
                <a:effectLst/>
                <a:latin typeface="+mj-lt"/>
                <a:ea typeface="+mn-ea"/>
                <a:cs typeface="+mn-cs"/>
              </a:defRPr>
            </a:lvl1pPr>
          </a:lstStyle>
          <a:p>
            <a:r>
              <a:rPr lang="en-US"/>
              <a:t>Click to edit Master title style</a:t>
            </a:r>
            <a:endParaRPr lang="en-US" dirty="0"/>
          </a:p>
        </p:txBody>
      </p:sp>
      <p:sp>
        <p:nvSpPr>
          <p:cNvPr id="3" name="Text Placeholder 2"/>
          <p:cNvSpPr>
            <a:spLocks noGrp="1"/>
          </p:cNvSpPr>
          <p:nvPr>
            <p:ph type="body" idx="1"/>
          </p:nvPr>
        </p:nvSpPr>
        <p:spPr>
          <a:xfrm>
            <a:off x="1563624" y="4682062"/>
            <a:ext cx="9070848" cy="457200"/>
          </a:xfrm>
        </p:spPr>
        <p:txBody>
          <a:bodyPr anchor="t">
            <a:normAutofit/>
          </a:bodyPr>
          <a:lstStyle>
            <a:lvl1pPr marL="0" indent="0" algn="ctr">
              <a:buNone/>
              <a:defRPr sz="1600">
                <a:solidFill>
                  <a:schemeClr val="tx1"/>
                </a:solidFill>
                <a:effectLst/>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21808" y="1344502"/>
            <a:ext cx="1554480" cy="530352"/>
          </a:xfrm>
        </p:spPr>
        <p:txBody>
          <a:bodyPr/>
          <a:lstStyle>
            <a:lvl1pPr algn="ctr">
              <a:defRPr lang="en-US" sz="1300" kern="1200" spc="0" baseline="0">
                <a:solidFill>
                  <a:schemeClr val="tx1"/>
                </a:solidFill>
                <a:latin typeface="+mn-lt"/>
                <a:ea typeface="+mn-ea"/>
                <a:cs typeface="+mn-cs"/>
              </a:defRPr>
            </a:lvl1pPr>
          </a:lstStyle>
          <a:p>
            <a:fld id="{0FDE0D57-847C-4E83-BADC-6FFCA0814D3D}" type="datetimeFigureOut">
              <a:rPr lang="en-US" smtClean="0"/>
              <a:t>29-Mar-19</a:t>
            </a:fld>
            <a:endParaRPr lang="en-US"/>
          </a:p>
        </p:txBody>
      </p:sp>
      <p:sp>
        <p:nvSpPr>
          <p:cNvPr id="5" name="Footer Placeholder 4"/>
          <p:cNvSpPr>
            <a:spLocks noGrp="1"/>
          </p:cNvSpPr>
          <p:nvPr>
            <p:ph type="ftr" sz="quarter" idx="11"/>
          </p:nvPr>
        </p:nvSpPr>
        <p:spPr>
          <a:xfrm>
            <a:off x="1453553" y="5211060"/>
            <a:ext cx="5907024" cy="228600"/>
          </a:xfrm>
        </p:spPr>
        <p:txBody>
          <a:bodyPr/>
          <a:lstStyle>
            <a:lvl1pPr algn="l">
              <a:defRPr/>
            </a:lvl1pPr>
          </a:lstStyle>
          <a:p>
            <a:endParaRPr lang="en-US"/>
          </a:p>
        </p:txBody>
      </p:sp>
      <p:sp>
        <p:nvSpPr>
          <p:cNvPr id="6" name="Slide Number Placeholder 5"/>
          <p:cNvSpPr>
            <a:spLocks noGrp="1"/>
          </p:cNvSpPr>
          <p:nvPr>
            <p:ph type="sldNum" sz="quarter" idx="12"/>
          </p:nvPr>
        </p:nvSpPr>
        <p:spPr>
          <a:xfrm>
            <a:off x="8604504" y="5211060"/>
            <a:ext cx="2112264" cy="228600"/>
          </a:xfrm>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4222716770"/>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680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70320" y="2103120"/>
            <a:ext cx="4754880" cy="374904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FDE0D57-847C-4E83-BADC-6FFCA0814D3D}" type="datetimeFigureOut">
              <a:rPr lang="en-US" smtClean="0"/>
              <a:t>29-Mar-19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40615936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9848" y="2074334"/>
            <a:ext cx="4754880" cy="640080"/>
          </a:xfrm>
        </p:spPr>
        <p:txBody>
          <a:bodyPr anchor="ctr">
            <a:normAutofit/>
          </a:bodyPr>
          <a:lstStyle>
            <a:lvl1pPr marL="0" indent="0" algn="ctr">
              <a:spcBef>
                <a:spcPts val="0"/>
              </a:spcBef>
              <a:buNone/>
              <a:defRPr sz="1900" b="0">
                <a:solidFill>
                  <a:schemeClr val="tx2"/>
                </a:solidFill>
                <a:latin typeface="+mn-lt"/>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55898"/>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73368" y="2074334"/>
            <a:ext cx="4754880" cy="640080"/>
          </a:xfrm>
        </p:spPr>
        <p:txBody>
          <a:bodyPr anchor="ctr">
            <a:normAutofit/>
          </a:bodyPr>
          <a:lstStyle>
            <a:lvl1pPr marL="0" indent="0" algn="ctr">
              <a:spcBef>
                <a:spcPts val="0"/>
              </a:spcBef>
              <a:buNone/>
              <a:defRPr sz="1900" b="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73368" y="2756581"/>
            <a:ext cx="4754880" cy="32004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FDE0D57-847C-4E83-BADC-6FFCA0814D3D}" type="datetimeFigureOut">
              <a:rPr lang="en-US" smtClean="0"/>
              <a:t>29-Mar-19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28189409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FDE0D57-847C-4E83-BADC-6FFCA0814D3D}" type="datetimeFigureOut">
              <a:rPr lang="en-US" smtClean="0"/>
              <a:t>29-Mar-19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3830570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FDE0D57-847C-4E83-BADC-6FFCA0814D3D}" type="datetimeFigureOut">
              <a:rPr lang="en-US" smtClean="0"/>
              <a:t>29-Mar-19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9276265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6" name="Rectangle 15"/>
          <p:cNvSpPr/>
          <p:nvPr/>
        </p:nvSpPr>
        <p:spPr>
          <a:xfrm>
            <a:off x="245529" y="237744"/>
            <a:ext cx="8531352" cy="638251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7392"/>
            <a:ext cx="2430780" cy="1645920"/>
          </a:xfrm>
        </p:spPr>
        <p:txBody>
          <a:bodyPr anchor="b">
            <a:normAutofit/>
          </a:bodyPr>
          <a:lstStyle>
            <a:lvl1pPr algn="l" defTabSz="914400" rtl="0" eaLnBrk="1" latinLnBrk="0" hangingPunct="1">
              <a:lnSpc>
                <a:spcPct val="90000"/>
              </a:lnSpc>
              <a:spcBef>
                <a:spcPct val="0"/>
              </a:spcBef>
              <a:buNone/>
              <a:defRPr lang="en-US" sz="2800" b="0" kern="1200" cap="none" spc="0" baseline="0" dirty="0">
                <a:solidFill>
                  <a:srgbClr val="FFFFFF"/>
                </a:solidFill>
                <a:effectLst/>
                <a:latin typeface="+mj-lt"/>
                <a:ea typeface="+mn-ea"/>
                <a:cs typeface="+mn-cs"/>
              </a:defRPr>
            </a:lvl1pPr>
          </a:lstStyle>
          <a:p>
            <a:r>
              <a:rPr lang="en-US"/>
              <a:t>Click to edit Master title style</a:t>
            </a:r>
            <a:endParaRPr lang="en-US" dirty="0"/>
          </a:p>
        </p:txBody>
      </p:sp>
      <p:sp>
        <p:nvSpPr>
          <p:cNvPr id="3" name="Content Placeholder 2"/>
          <p:cNvSpPr>
            <a:spLocks noGrp="1"/>
          </p:cNvSpPr>
          <p:nvPr>
            <p:ph idx="1"/>
          </p:nvPr>
        </p:nvSpPr>
        <p:spPr>
          <a:xfrm>
            <a:off x="685800" y="609600"/>
            <a:ext cx="7772400" cy="533400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296400" y="2286000"/>
            <a:ext cx="2430780" cy="3505200"/>
          </a:xfrm>
        </p:spPr>
        <p:txBody>
          <a:bodyPr>
            <a:normAutofit/>
          </a:bodyPr>
          <a:lstStyle>
            <a:lvl1pPr marL="0" indent="0">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0FDE0D57-847C-4E83-BADC-6FFCA0814D3D}" type="datetimeFigureOut">
              <a:rPr lang="en-US" smtClean="0"/>
              <a:t>29-Mar-19</a:t>
            </a:fld>
            <a:endParaRPr lang="en-US"/>
          </a:p>
        </p:txBody>
      </p:sp>
      <p:sp>
        <p:nvSpPr>
          <p:cNvPr id="9" name="Footer Placeholder 8"/>
          <p:cNvSpPr>
            <a:spLocks noGrp="1"/>
          </p:cNvSpPr>
          <p:nvPr>
            <p:ph type="ftr" sz="quarter" idx="11"/>
          </p:nvPr>
        </p:nvSpPr>
        <p:spPr/>
        <p:txBody>
          <a:bodyPr/>
          <a:lstStyle>
            <a:lvl1pPr algn="r">
              <a:defRPr/>
            </a:lvl1pPr>
          </a:lstStyle>
          <a:p>
            <a:endParaRPr lang="en-US"/>
          </a:p>
        </p:txBody>
      </p:sp>
      <p:sp>
        <p:nvSpPr>
          <p:cNvPr id="11" name="Slide Number Placeholder 10"/>
          <p:cNvSpPr>
            <a:spLocks noGrp="1"/>
          </p:cNvSpPr>
          <p:nvPr>
            <p:ph type="sldNum" sz="quarter" idx="12"/>
          </p:nvPr>
        </p:nvSpPr>
        <p:spPr>
          <a:xfrm>
            <a:off x="10393677" y="6223002"/>
            <a:ext cx="1463040" cy="274320"/>
          </a:xfrm>
        </p:spPr>
        <p:txBody>
          <a:bodyPr/>
          <a:lstStyle>
            <a:lvl1pPr>
              <a:defRPr>
                <a:solidFill>
                  <a:srgbClr val="FFFFFF"/>
                </a:solidFill>
              </a:defRPr>
            </a:lvl1pPr>
          </a:lstStyle>
          <a:p>
            <a:fld id="{02E8B338-5F18-45B1-AF09-DCC73302D894}" type="slidenum">
              <a:rPr lang="en-US" smtClean="0"/>
              <a:t>‹#›</a:t>
            </a:fld>
            <a:endParaRPr lang="en-US"/>
          </a:p>
        </p:txBody>
      </p:sp>
      <p:sp>
        <p:nvSpPr>
          <p:cNvPr id="12" name="Rectangle 11"/>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4324239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4" name="Rectangle 13"/>
          <p:cNvSpPr/>
          <p:nvPr/>
        </p:nvSpPr>
        <p:spPr>
          <a:xfrm>
            <a:off x="9020386" y="237744"/>
            <a:ext cx="2926080" cy="63825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296400" y="603504"/>
            <a:ext cx="2432304" cy="1645920"/>
          </a:xfrm>
        </p:spPr>
        <p:txBody>
          <a:bodyPr anchor="b">
            <a:noAutofit/>
          </a:bodyPr>
          <a:lstStyle>
            <a:lvl1pPr algn="l">
              <a:defRPr sz="2800" b="0">
                <a:solidFill>
                  <a:srgbClr val="FFFFFF"/>
                </a:solidFill>
                <a:latin typeface="+mj-lt"/>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28599" y="237744"/>
            <a:ext cx="8531352" cy="6382512"/>
          </a:xfrm>
          <a:solidFill>
            <a:schemeClr val="accent1">
              <a:lumMod val="60000"/>
              <a:lumOff val="40000"/>
            </a:schemeClr>
          </a:solidFill>
          <a:ln>
            <a:noFill/>
          </a:ln>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296400" y="2286000"/>
            <a:ext cx="2432304" cy="3502152"/>
          </a:xfrm>
        </p:spPr>
        <p:txBody>
          <a:bodyPr>
            <a:normAutofit/>
          </a:bodyPr>
          <a:lstStyle>
            <a:lvl1pPr marL="0" indent="0" algn="l">
              <a:lnSpc>
                <a:spcPct val="110000"/>
              </a:lnSpc>
              <a:spcBef>
                <a:spcPts val="800"/>
              </a:spcBef>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rgbClr val="FFFFFF"/>
                </a:solidFill>
                <a:effectLst>
                  <a:outerShdw blurRad="12700" dist="6350" dir="2700000" algn="tl" rotWithShape="0">
                    <a:prstClr val="black">
                      <a:alpha val="40000"/>
                    </a:prstClr>
                  </a:outerShdw>
                </a:effectLst>
              </a:defRPr>
            </a:lvl1pPr>
          </a:lstStyle>
          <a:p>
            <a:fld id="{0FDE0D57-847C-4E83-BADC-6FFCA0814D3D}" type="datetimeFigureOut">
              <a:rPr lang="en-US" smtClean="0"/>
              <a:t>29-Mar-19</a:t>
            </a:fld>
            <a:endParaRPr lang="en-US"/>
          </a:p>
        </p:txBody>
      </p:sp>
      <p:sp>
        <p:nvSpPr>
          <p:cNvPr id="6" name="Footer Placeholder 5"/>
          <p:cNvSpPr>
            <a:spLocks noGrp="1"/>
          </p:cNvSpPr>
          <p:nvPr>
            <p:ph type="ftr" sz="quarter" idx="11"/>
          </p:nvPr>
        </p:nvSpPr>
        <p:spPr/>
        <p:txBody>
          <a:bodyPr/>
          <a:lstStyle>
            <a:lvl1pPr marL="0" algn="r" defTabSz="914400" rtl="0" eaLnBrk="1" latinLnBrk="0" hangingPunct="1">
              <a:defRPr lang="en-US" sz="1000" kern="1200" dirty="0">
                <a:solidFill>
                  <a:srgbClr val="FFFFFF"/>
                </a:solidFill>
                <a:effectLst>
                  <a:outerShdw blurRad="12700" dist="6350" dir="2700000" algn="tl" rotWithShape="0">
                    <a:prstClr val="black">
                      <a:alpha val="40000"/>
                    </a:prstClr>
                  </a:outerShdw>
                </a:effectLst>
                <a:latin typeface="+mn-lt"/>
                <a:ea typeface="+mn-ea"/>
                <a:cs typeface="+mn-cs"/>
              </a:defRPr>
            </a:lvl1pPr>
          </a:lstStyle>
          <a:p>
            <a:endParaRPr lang="en-US" dirty="0"/>
          </a:p>
        </p:txBody>
      </p:sp>
      <p:sp>
        <p:nvSpPr>
          <p:cNvPr id="7" name="Slide Number Placeholder 6"/>
          <p:cNvSpPr>
            <a:spLocks noGrp="1"/>
          </p:cNvSpPr>
          <p:nvPr>
            <p:ph type="sldNum" sz="quarter" idx="12"/>
          </p:nvPr>
        </p:nvSpPr>
        <p:spPr>
          <a:xfrm>
            <a:off x="10396728" y="6227064"/>
            <a:ext cx="1463040" cy="274320"/>
          </a:xfrm>
        </p:spPr>
        <p:txBody>
          <a:bodyPr/>
          <a:lstStyle>
            <a:lvl1pPr>
              <a:defRPr>
                <a:solidFill>
                  <a:srgbClr val="FFFFFF"/>
                </a:solidFill>
              </a:defRPr>
            </a:lvl1pPr>
          </a:lstStyle>
          <a:p>
            <a:fld id="{02E8B338-5F18-45B1-AF09-DCC73302D894}" type="slidenum">
              <a:rPr lang="en-US" smtClean="0"/>
              <a:t>‹#›</a:t>
            </a:fld>
            <a:endParaRPr lang="en-US"/>
          </a:p>
        </p:txBody>
      </p:sp>
      <p:sp>
        <p:nvSpPr>
          <p:cNvPr id="10" name="Rectangle 9"/>
          <p:cNvSpPr/>
          <p:nvPr/>
        </p:nvSpPr>
        <p:spPr>
          <a:xfrm>
            <a:off x="9157546" y="374904"/>
            <a:ext cx="2651760" cy="6108192"/>
          </a:xfrm>
          <a:prstGeom prst="rect">
            <a:avLst/>
          </a:prstGeom>
          <a:noFill/>
          <a:ln w="63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952471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DE0D57-847C-4E83-BADC-6FFCA0814D3D}" type="datetimeFigureOut">
              <a:rPr lang="en-US" smtClean="0"/>
              <a:t>29-Mar-19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2300204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1600" y="762000"/>
            <a:ext cx="2362200" cy="5257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762000"/>
            <a:ext cx="80772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FDE0D57-847C-4E83-BADC-6FFCA0814D3D}" type="datetimeFigureOut">
              <a:rPr lang="en-US" smtClean="0"/>
              <a:t>29-Mar-19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2E8B338-5F18-45B1-AF09-DCC73302D894}" type="slidenum">
              <a:rPr lang="en-US" smtClean="0"/>
              <a:t>‹#›</a:t>
            </a:fld>
            <a:endParaRPr lang="en-US"/>
          </a:p>
        </p:txBody>
      </p:sp>
    </p:spTree>
    <p:extLst>
      <p:ext uri="{BB962C8B-B14F-4D97-AF65-F5344CB8AC3E}">
        <p14:creationId xmlns:p14="http://schemas.microsoft.com/office/powerpoint/2010/main" val="344557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4696" y="237744"/>
            <a:ext cx="11722608" cy="6382512"/>
          </a:xfrm>
          <a:prstGeom prst="rect">
            <a:avLst/>
          </a:prstGeom>
          <a:solidFill>
            <a:schemeClr val="bg2"/>
          </a:solidFill>
          <a:ln w="6350" cap="flat" cmpd="sng" algn="ctr">
            <a:noFill/>
            <a:prstDash val="solid"/>
          </a:ln>
          <a:effectLst>
            <a:softEdge rad="0"/>
          </a:effectLst>
        </p:spPr>
      </p:sp>
      <p:sp>
        <p:nvSpPr>
          <p:cNvPr id="2" name="Title Placeholder 1"/>
          <p:cNvSpPr>
            <a:spLocks noGrp="1"/>
          </p:cNvSpPr>
          <p:nvPr>
            <p:ph type="title"/>
          </p:nvPr>
        </p:nvSpPr>
        <p:spPr>
          <a:xfrm>
            <a:off x="1066800" y="642594"/>
            <a:ext cx="10058400" cy="13716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6800" y="2103120"/>
            <a:ext cx="10058400" cy="39319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74320" y="6307672"/>
            <a:ext cx="2743200" cy="274320"/>
          </a:xfrm>
          <a:prstGeom prst="rect">
            <a:avLst/>
          </a:prstGeom>
        </p:spPr>
        <p:txBody>
          <a:bodyPr vert="horz" lIns="91440" tIns="45720" rIns="91440" bIns="45720" rtlCol="0" anchor="b"/>
          <a:lstStyle>
            <a:lvl1pPr algn="l">
              <a:defRPr sz="1000">
                <a:solidFill>
                  <a:schemeClr val="tx1">
                    <a:lumMod val="75000"/>
                    <a:lumOff val="25000"/>
                  </a:schemeClr>
                </a:solidFill>
              </a:defRPr>
            </a:lvl1pPr>
          </a:lstStyle>
          <a:p>
            <a:fld id="{0FDE0D57-847C-4E83-BADC-6FFCA0814D3D}" type="datetimeFigureOut">
              <a:rPr lang="en-US" smtClean="0"/>
              <a:t>29-Mar-19</a:t>
            </a:fld>
            <a:endParaRPr lang="en-US"/>
          </a:p>
        </p:txBody>
      </p:sp>
      <p:sp>
        <p:nvSpPr>
          <p:cNvPr id="5" name="Footer Placeholder 4"/>
          <p:cNvSpPr>
            <a:spLocks noGrp="1"/>
          </p:cNvSpPr>
          <p:nvPr>
            <p:ph type="ftr" sz="quarter" idx="3"/>
          </p:nvPr>
        </p:nvSpPr>
        <p:spPr>
          <a:xfrm>
            <a:off x="3489960" y="6307672"/>
            <a:ext cx="5212080" cy="274320"/>
          </a:xfrm>
          <a:prstGeom prst="rect">
            <a:avLst/>
          </a:prstGeom>
        </p:spPr>
        <p:txBody>
          <a:bodyPr vert="horz" lIns="91440" tIns="45720" rIns="91440" bIns="45720" rtlCol="0" anchor="b"/>
          <a:lstStyle>
            <a:lvl1pPr algn="ctr">
              <a:defRPr sz="1000">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10469880" y="6307672"/>
            <a:ext cx="1463040" cy="274320"/>
          </a:xfrm>
          <a:prstGeom prst="rect">
            <a:avLst/>
          </a:prstGeom>
        </p:spPr>
        <p:txBody>
          <a:bodyPr vert="horz" lIns="91440" tIns="45720" rIns="91440" bIns="45720" rtlCol="0" anchor="b"/>
          <a:lstStyle>
            <a:lvl1pPr algn="r">
              <a:defRPr sz="1000">
                <a:solidFill>
                  <a:schemeClr val="tx1">
                    <a:lumMod val="75000"/>
                    <a:lumOff val="25000"/>
                  </a:schemeClr>
                </a:solidFill>
              </a:defRPr>
            </a:lvl1pPr>
          </a:lstStyle>
          <a:p>
            <a:fld id="{02E8B338-5F18-45B1-AF09-DCC73302D894}" type="slidenum">
              <a:rPr lang="en-US" smtClean="0"/>
              <a:t>‹#›</a:t>
            </a:fld>
            <a:endParaRPr lang="en-US"/>
          </a:p>
        </p:txBody>
      </p:sp>
    </p:spTree>
    <p:extLst>
      <p:ext uri="{BB962C8B-B14F-4D97-AF65-F5344CB8AC3E}">
        <p14:creationId xmlns:p14="http://schemas.microsoft.com/office/powerpoint/2010/main" val="36373474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lang="en-US" sz="4800" kern="1200" cap="none" spc="0" baseline="0" dirty="0">
          <a:solidFill>
            <a:schemeClr val="tx1">
              <a:lumMod val="85000"/>
              <a:lumOff val="15000"/>
            </a:schemeClr>
          </a:solidFill>
          <a:effectLst/>
          <a:latin typeface="+mj-lt"/>
          <a:ea typeface="+mn-ea"/>
          <a:cs typeface="+mn-cs"/>
        </a:defRPr>
      </a:lvl1pPr>
    </p:titleStyle>
    <p:bodyStyle>
      <a:lvl1pPr marL="182880" indent="-182880" algn="l" defTabSz="914400" rtl="0" eaLnBrk="1" latinLnBrk="0" hangingPunct="1">
        <a:lnSpc>
          <a:spcPct val="100000"/>
        </a:lnSpc>
        <a:spcBef>
          <a:spcPts val="900"/>
        </a:spcBef>
        <a:spcAft>
          <a:spcPts val="0"/>
        </a:spcAft>
        <a:buClr>
          <a:schemeClr val="tx1">
            <a:lumMod val="85000"/>
            <a:lumOff val="15000"/>
          </a:schemeClr>
        </a:buClr>
        <a:buFont typeface="Garamond" pitchFamily="18" charset="0"/>
        <a:buChar char="◦"/>
        <a:defRPr sz="1800" kern="1200">
          <a:solidFill>
            <a:schemeClr val="tx1"/>
          </a:solidFill>
          <a:latin typeface="+mn-lt"/>
          <a:ea typeface="+mn-ea"/>
          <a:cs typeface="+mn-cs"/>
        </a:defRPr>
      </a:lvl1pPr>
      <a:lvl2pPr marL="45720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600" kern="1200">
          <a:solidFill>
            <a:schemeClr val="tx1"/>
          </a:solidFill>
          <a:latin typeface="+mn-lt"/>
          <a:ea typeface="+mn-ea"/>
          <a:cs typeface="+mn-cs"/>
        </a:defRPr>
      </a:lvl2pPr>
      <a:lvl3pPr marL="73152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3pPr>
      <a:lvl4pPr marL="100584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4pPr>
      <a:lvl5pPr marL="1280160" indent="-18288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5pPr>
      <a:lvl6pPr marL="16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6pPr>
      <a:lvl7pPr marL="19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7pPr>
      <a:lvl8pPr marL="22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8pPr>
      <a:lvl9pPr marL="2500000" indent="-228600" algn="l" defTabSz="914400" rtl="0" eaLnBrk="1" latinLnBrk="0" hangingPunct="1">
        <a:lnSpc>
          <a:spcPct val="100000"/>
        </a:lnSpc>
        <a:spcBef>
          <a:spcPts val="500"/>
        </a:spcBef>
        <a:buClr>
          <a:schemeClr val="tx1">
            <a:lumMod val="85000"/>
            <a:lumOff val="15000"/>
          </a:schemeClr>
        </a:buClr>
        <a:buFont typeface="Garamond" pitchFamily="18"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35594-F215-4687-B16B-99FA725559AD}"/>
              </a:ext>
            </a:extLst>
          </p:cNvPr>
          <p:cNvSpPr>
            <a:spLocks noGrp="1"/>
          </p:cNvSpPr>
          <p:nvPr>
            <p:ph type="ctrTitle"/>
          </p:nvPr>
        </p:nvSpPr>
        <p:spPr>
          <a:xfrm>
            <a:off x="1561707" y="1634063"/>
            <a:ext cx="9068586" cy="2590800"/>
          </a:xfrm>
        </p:spPr>
        <p:txBody>
          <a:bodyPr/>
          <a:lstStyle/>
          <a:p>
            <a:r>
              <a:rPr lang="en-US" sz="4400" dirty="0"/>
              <a:t>PROJECT PRESENTATION</a:t>
            </a:r>
            <a:br>
              <a:rPr lang="en-US" sz="4400" dirty="0"/>
            </a:br>
            <a:endParaRPr lang="en-US" sz="4400" dirty="0"/>
          </a:p>
        </p:txBody>
      </p:sp>
      <p:sp>
        <p:nvSpPr>
          <p:cNvPr id="3" name="Subtitle 2">
            <a:extLst>
              <a:ext uri="{FF2B5EF4-FFF2-40B4-BE49-F238E27FC236}">
                <a16:creationId xmlns:a16="http://schemas.microsoft.com/office/drawing/2014/main" id="{5F2CDBF0-8180-4078-BC7E-A4A5EE6A1F07}"/>
              </a:ext>
            </a:extLst>
          </p:cNvPr>
          <p:cNvSpPr>
            <a:spLocks noGrp="1"/>
          </p:cNvSpPr>
          <p:nvPr>
            <p:ph type="subTitle" idx="1"/>
          </p:nvPr>
        </p:nvSpPr>
        <p:spPr>
          <a:xfrm>
            <a:off x="1562100" y="3990974"/>
            <a:ext cx="9070848" cy="1148289"/>
          </a:xfrm>
        </p:spPr>
        <p:txBody>
          <a:bodyPr>
            <a:normAutofit fontScale="92500" lnSpcReduction="10000"/>
          </a:bodyPr>
          <a:lstStyle/>
          <a:p>
            <a:r>
              <a:rPr lang="en-US" dirty="0"/>
              <a:t>SUBMITTED BY:</a:t>
            </a:r>
          </a:p>
          <a:p>
            <a:r>
              <a:rPr lang="en-US" dirty="0"/>
              <a:t>ANKITA MANGLA </a:t>
            </a:r>
          </a:p>
          <a:p>
            <a:r>
              <a:rPr lang="en-US" dirty="0"/>
              <a:t>75178401</a:t>
            </a:r>
          </a:p>
          <a:p>
            <a:r>
              <a:rPr lang="en-US" dirty="0"/>
              <a:t>BCA CTIS</a:t>
            </a:r>
          </a:p>
          <a:p>
            <a:r>
              <a:rPr lang="en-US" dirty="0"/>
              <a:t>4</a:t>
            </a:r>
            <a:r>
              <a:rPr lang="en-US" baseline="30000" dirty="0"/>
              <a:t>TH</a:t>
            </a:r>
            <a:r>
              <a:rPr lang="en-US" dirty="0"/>
              <a:t> SEMESTER </a:t>
            </a:r>
          </a:p>
        </p:txBody>
      </p:sp>
    </p:spTree>
    <p:extLst>
      <p:ext uri="{BB962C8B-B14F-4D97-AF65-F5344CB8AC3E}">
        <p14:creationId xmlns:p14="http://schemas.microsoft.com/office/powerpoint/2010/main" val="742203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E7453-5208-430E-A8E1-8C5648284E6D}"/>
              </a:ext>
            </a:extLst>
          </p:cNvPr>
          <p:cNvSpPr>
            <a:spLocks noGrp="1"/>
          </p:cNvSpPr>
          <p:nvPr>
            <p:ph type="title"/>
          </p:nvPr>
        </p:nvSpPr>
        <p:spPr/>
        <p:txBody>
          <a:bodyPr/>
          <a:lstStyle/>
          <a:p>
            <a:r>
              <a:rPr lang="en-US" sz="4400" dirty="0"/>
              <a:t>PROJECT</a:t>
            </a:r>
            <a:br>
              <a:rPr lang="en-US" sz="4000" dirty="0"/>
            </a:br>
            <a:r>
              <a:rPr lang="en-US" sz="4000" dirty="0"/>
              <a:t>CENTRAL EXAMINATION SYSTEM </a:t>
            </a:r>
          </a:p>
        </p:txBody>
      </p:sp>
    </p:spTree>
    <p:extLst>
      <p:ext uri="{BB962C8B-B14F-4D97-AF65-F5344CB8AC3E}">
        <p14:creationId xmlns:p14="http://schemas.microsoft.com/office/powerpoint/2010/main" val="33212405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37ABF3-095C-4856-9591-0028D5AAAE35}"/>
              </a:ext>
            </a:extLst>
          </p:cNvPr>
          <p:cNvSpPr/>
          <p:nvPr/>
        </p:nvSpPr>
        <p:spPr>
          <a:xfrm>
            <a:off x="661987" y="379303"/>
            <a:ext cx="10868025" cy="6478697"/>
          </a:xfrm>
          <a:prstGeom prst="rect">
            <a:avLst/>
          </a:prstGeom>
        </p:spPr>
        <p:txBody>
          <a:bodyPr wrap="square">
            <a:spAutoFit/>
          </a:bodyPr>
          <a:lstStyle/>
          <a:p>
            <a:pPr fontAlgn="base">
              <a:spcAft>
                <a:spcPts val="75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INTRODUCTION :</a:t>
            </a:r>
          </a:p>
          <a:p>
            <a:pPr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Central examination system manages examination work and conduct that has to be executed before the start of the examination process. </a:t>
            </a:r>
          </a:p>
          <a:p>
            <a:pPr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With the use of central management system; examination management related arrangements like time-table, hall tickets, allotments and result can be organized efficiently. </a:t>
            </a:r>
          </a:p>
          <a:p>
            <a:pPr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central examination system is a platform through which we can conduct the exam nationally through a central database.</a:t>
            </a:r>
          </a:p>
          <a:p>
            <a:pPr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main purpose of central examination system is to provide one stop solution for managing all central examination related information.</a:t>
            </a: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a:r>
          </a:p>
          <a:p>
            <a:pPr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By using this, we eliminate the use of paper that promotes the “save trees” motto</a:t>
            </a:r>
            <a:r>
              <a:rPr lang="en-US" sz="2000" dirty="0">
                <a:latin typeface="Roboto" panose="02000000000000000000" pitchFamily="2" charset="0"/>
                <a:ea typeface="Times New Roman" panose="02020603050405020304" pitchFamily="18" charset="0"/>
              </a:rPr>
              <a:t>.</a:t>
            </a:r>
            <a:endParaRPr lang="en-US" sz="1200" dirty="0">
              <a:latin typeface="Times New Roman" panose="02020603050405020304" pitchFamily="18" charset="0"/>
              <a:ea typeface="Times New Roman" panose="02020603050405020304" pitchFamily="18" charset="0"/>
            </a:endParaRPr>
          </a:p>
          <a:p>
            <a:pPr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fontAlgn="base">
              <a:spcAft>
                <a:spcPts val="750"/>
              </a:spcAft>
            </a:pPr>
            <a:endParaRPr lang="en-US" sz="11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749652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342FDFB-0F9D-48BC-92F0-F6749C7F9750}"/>
              </a:ext>
            </a:extLst>
          </p:cNvPr>
          <p:cNvSpPr/>
          <p:nvPr/>
        </p:nvSpPr>
        <p:spPr>
          <a:xfrm>
            <a:off x="371475" y="238126"/>
            <a:ext cx="11563350" cy="5386090"/>
          </a:xfrm>
          <a:prstGeom prst="rect">
            <a:avLst/>
          </a:prstGeom>
        </p:spPr>
        <p:txBody>
          <a:bodyPr wrap="square">
            <a:spAutoFit/>
          </a:bodyPr>
          <a:lstStyle/>
          <a:p>
            <a:r>
              <a:rPr lang="en-US" sz="2400" dirty="0">
                <a:latin typeface="Times New Roman" panose="02020603050405020304" pitchFamily="18" charset="0"/>
                <a:ea typeface="Calibri" panose="020F0502020204030204" pitchFamily="34" charset="0"/>
                <a:cs typeface="Times New Roman" panose="02020603050405020304" pitchFamily="18" charset="0"/>
              </a:rPr>
              <a:t>WHY WE NEED THIS SYSTEM </a:t>
            </a:r>
          </a:p>
          <a:p>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cs typeface="Times New Roman" panose="02020603050405020304" pitchFamily="18" charset="0"/>
              </a:rPr>
              <a:t>In paper-pen examination system, although the process is organised in well-defined examination branches, the movement of paper-based records is slow. </a:t>
            </a:r>
          </a:p>
          <a:p>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cs typeface="Times New Roman" panose="02020603050405020304" pitchFamily="18" charset="0"/>
              </a:rPr>
              <a:t>The examination process in the system continues for months, causing physical and mental strain for the examinees. </a:t>
            </a:r>
          </a:p>
          <a:p>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ea typeface="Calibri" panose="020F0502020204030204" pitchFamily="34" charset="0"/>
                <a:cs typeface="Times New Roman" panose="02020603050405020304" pitchFamily="18" charset="0"/>
              </a:rPr>
              <a:t>In addition, students are required to correspond by post or visit the headquarters in person for examination-related queries. </a:t>
            </a: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The conventional paper-pen examination system leads to errors, greater time consumption, inefficiency and waste of valuable resources. </a:t>
            </a:r>
          </a:p>
          <a:p>
            <a:endParaRPr lang="en-US" sz="2000" dirty="0">
              <a:latin typeface="Times New Roman" panose="02020603050405020304" pitchFamily="18" charset="0"/>
              <a:ea typeface="Times New Roman" panose="02020603050405020304" pitchFamily="18" charset="0"/>
            </a:endParaRPr>
          </a:p>
          <a:p>
            <a:r>
              <a:rPr lang="en-US" sz="2000" dirty="0">
                <a:latin typeface="Times New Roman" panose="02020603050405020304" pitchFamily="18" charset="0"/>
                <a:ea typeface="Times New Roman" panose="02020603050405020304" pitchFamily="18" charset="0"/>
              </a:rPr>
              <a:t>Moreover, the ever-increasing paper-based record registers are difficult to store securely because of space scarcity. </a:t>
            </a:r>
          </a:p>
          <a:p>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0295603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6D8E7F3-D870-4B8F-8728-F03B68B2EDE7}"/>
              </a:ext>
            </a:extLst>
          </p:cNvPr>
          <p:cNvSpPr/>
          <p:nvPr/>
        </p:nvSpPr>
        <p:spPr>
          <a:xfrm>
            <a:off x="276225" y="180975"/>
            <a:ext cx="11649074" cy="5940088"/>
          </a:xfrm>
          <a:prstGeom prst="rect">
            <a:avLst/>
          </a:prstGeom>
        </p:spPr>
        <p:txBody>
          <a:bodyPr wrap="square">
            <a:spAutoFit/>
          </a:bodyPr>
          <a:lstStyle/>
          <a:p>
            <a:pPr algn="just" fontAlgn="base">
              <a:spcAft>
                <a:spcPts val="750"/>
              </a:spcAft>
            </a:pPr>
            <a:r>
              <a:rPr lang="en-US" sz="2000" dirty="0">
                <a:latin typeface="Times New Roman" panose="02020603050405020304" pitchFamily="18" charset="0"/>
                <a:ea typeface="Times New Roman" panose="02020603050405020304" pitchFamily="18" charset="0"/>
              </a:rPr>
              <a:t>There is repetition of work because the same data is recorded in different branches.</a:t>
            </a:r>
            <a:endParaRPr lang="en-US" sz="2000" dirty="0">
              <a:latin typeface="Times New Roman" panose="02020603050405020304" pitchFamily="18" charset="0"/>
              <a:cs typeface="Times New Roman" panose="02020603050405020304" pitchFamily="18" charset="0"/>
            </a:endParaRP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This leads to data duplication, and huge money is spent by the university to buy paper.</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Tampering with students’ records is possible.</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At times, fake degrees are prepared and no online verification is done. This leads to unfair practices and mars the credibility of the university.</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rPr>
              <a:t>In conventional system, everything is usually done by hand on paper like registration, confirmation of registration, exam information, exam writing, result declaration etc. </a:t>
            </a:r>
          </a:p>
          <a:p>
            <a:pPr algn="just" fontAlgn="base">
              <a:spcAft>
                <a:spcPts val="750"/>
              </a:spcAft>
            </a:pPr>
            <a:endParaRPr lang="en-US" sz="2000" dirty="0">
              <a:latin typeface="Times New Roman" panose="02020603050405020304" pitchFamily="18" charset="0"/>
              <a:ea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rPr>
              <a:t>Most of this tasks / information was done or conveyed using post mails.</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17191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394C93-34A4-4302-A87F-A2299C48065C}"/>
              </a:ext>
            </a:extLst>
          </p:cNvPr>
          <p:cNvSpPr/>
          <p:nvPr/>
        </p:nvSpPr>
        <p:spPr>
          <a:xfrm>
            <a:off x="266700" y="285749"/>
            <a:ext cx="11630025" cy="3036729"/>
          </a:xfrm>
          <a:prstGeom prst="rect">
            <a:avLst/>
          </a:prstGeom>
        </p:spPr>
        <p:txBody>
          <a:bodyPr wrap="square">
            <a:spAutoFit/>
          </a:bodyPr>
          <a:lstStyle/>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traditional examination system is long, time consuming, conducting and evaluation process. </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In case of paper-based exam the verification of answer and result processing are time consuming and prone to error.</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use of multimedia (like audios, videos etc.) is very difficult or we can say almost impossible to incorporate in traditional system.</a:t>
            </a:r>
          </a:p>
          <a:p>
            <a:pPr algn="just" fontAlgn="base">
              <a:spcAft>
                <a:spcPts val="750"/>
              </a:spcAft>
            </a:pPr>
            <a:r>
              <a:rPr lang="en-US" dirty="0">
                <a:latin typeface="Times New Roman" panose="02020603050405020304" pitchFamily="18" charset="0"/>
                <a:ea typeface="Times New Roman" panose="02020603050405020304" pitchFamily="18" charset="0"/>
              </a:rPr>
              <a:t> </a:t>
            </a:r>
          </a:p>
        </p:txBody>
      </p:sp>
    </p:spTree>
    <p:extLst>
      <p:ext uri="{BB962C8B-B14F-4D97-AF65-F5344CB8AC3E}">
        <p14:creationId xmlns:p14="http://schemas.microsoft.com/office/powerpoint/2010/main" val="3572296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BDBBE24-00C5-4609-98A1-63CA2E2946A5}"/>
              </a:ext>
            </a:extLst>
          </p:cNvPr>
          <p:cNvSpPr/>
          <p:nvPr/>
        </p:nvSpPr>
        <p:spPr>
          <a:xfrm>
            <a:off x="419100" y="190501"/>
            <a:ext cx="11487150" cy="6412012"/>
          </a:xfrm>
          <a:prstGeom prst="rect">
            <a:avLst/>
          </a:prstGeom>
        </p:spPr>
        <p:txBody>
          <a:bodyPr wrap="square">
            <a:spAutoFit/>
          </a:bodyPr>
          <a:lstStyle/>
          <a:p>
            <a:pPr algn="just" fontAlgn="base">
              <a:spcAft>
                <a:spcPts val="75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Solution:  </a:t>
            </a:r>
          </a:p>
          <a:p>
            <a:pPr algn="just" fontAlgn="base">
              <a:spcAft>
                <a:spcPts val="750"/>
              </a:spcAft>
            </a:pPr>
            <a:r>
              <a:rPr lang="en-US" dirty="0">
                <a:latin typeface="Times New Roman" panose="02020603050405020304" pitchFamily="18" charset="0"/>
                <a:ea typeface="Times New Roman" panose="02020603050405020304" pitchFamily="18" charset="0"/>
              </a:rPr>
              <a:t> </a:t>
            </a:r>
            <a:r>
              <a:rPr lang="en-US" sz="2000" dirty="0">
                <a:latin typeface="Times New Roman" panose="02020603050405020304" pitchFamily="18" charset="0"/>
                <a:ea typeface="Times New Roman" panose="02020603050405020304" pitchFamily="18" charset="0"/>
                <a:cs typeface="Times New Roman" panose="02020603050405020304" pitchFamily="18" charset="0"/>
              </a:rPr>
              <a:t>Automation has been aimed at minimizing human intervention since information and communication technology promises compact storage and speedy data retrieval.</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 The technology can be used right from student administration to resource administration in an educational institution, where administrative subsystems include personnel, student, resources, financial and general administration. </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concept of integration of the examination system will bring in scalable, transparent and vigorous e-governance solutions as the examination system can be put under a single portal system. </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Using online examination system, we can eliminate traditional examination system pitfall. </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rPr>
              <a:t>By integrating and storing student data from different branches of examination in a central server on a company’s networking system, the data can be made available anywhere, anytime and inconsistencies minimized.</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58371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4CF05F3-3E79-40F5-AE93-68F69703BAD5}"/>
              </a:ext>
            </a:extLst>
          </p:cNvPr>
          <p:cNvSpPr/>
          <p:nvPr/>
        </p:nvSpPr>
        <p:spPr>
          <a:xfrm>
            <a:off x="381000" y="285751"/>
            <a:ext cx="11572874" cy="6555641"/>
          </a:xfrm>
          <a:prstGeom prst="rect">
            <a:avLst/>
          </a:prstGeom>
        </p:spPr>
        <p:txBody>
          <a:bodyPr wrap="square">
            <a:spAutoFit/>
          </a:bodyPr>
          <a:lstStyle/>
          <a:p>
            <a:pPr algn="just" fontAlgn="base"/>
            <a:r>
              <a:rPr lang="en-US" sz="2000" dirty="0">
                <a:latin typeface="Times New Roman" panose="02020603050405020304" pitchFamily="18" charset="0"/>
                <a:ea typeface="Times New Roman" panose="02020603050405020304" pitchFamily="18" charset="0"/>
              </a:rPr>
              <a:t>Among the benefits are a streamlined system and procedure for collection of examination fees, issue of receipts and keeping track of the cash flow. </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There will be a centralised, secure and robust database of the candidates without duplication of records.</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The automated process will bring improvement in the quality of services to the stakeholders by introducing a computerised window system and online availability of information.</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The complete computerisation of the examination system will lead to the effective monitoring of the examination processes, minimising the possibility of fraud. </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The computerised statistical analysis of data will enable the authorities to observe trends in results, and the timely availability of compiled reports can be used to make strategic decisions in favour of the company and students.</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In online examination system, All the exam related information can be shown on the authority’s website. </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Students can apply / register for the exam through the website. </a:t>
            </a:r>
          </a:p>
          <a:p>
            <a:pPr algn="just" fontAlgn="base"/>
            <a:endParaRPr lang="en-US" sz="2000" dirty="0">
              <a:latin typeface="Times New Roman" panose="02020603050405020304" pitchFamily="18" charset="0"/>
              <a:ea typeface="Times New Roman" panose="02020603050405020304" pitchFamily="18" charset="0"/>
            </a:endParaRPr>
          </a:p>
          <a:p>
            <a:pPr algn="just" fontAlgn="base"/>
            <a:r>
              <a:rPr lang="en-US" sz="2000" dirty="0">
                <a:latin typeface="Times New Roman" panose="02020603050405020304" pitchFamily="18" charset="0"/>
                <a:ea typeface="Times New Roman" panose="02020603050405020304" pitchFamily="18" charset="0"/>
              </a:rPr>
              <a:t>It is secure as all the work will be dealt separately through individual login ids.</a:t>
            </a:r>
          </a:p>
          <a:p>
            <a:pPr algn="just" fontAlgn="base"/>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001899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89C0DE8-BD5C-4CD1-B3C6-686B4DB17866}"/>
              </a:ext>
            </a:extLst>
          </p:cNvPr>
          <p:cNvSpPr/>
          <p:nvPr/>
        </p:nvSpPr>
        <p:spPr>
          <a:xfrm>
            <a:off x="504825" y="238126"/>
            <a:ext cx="11382375" cy="2349361"/>
          </a:xfrm>
          <a:prstGeom prst="rect">
            <a:avLst/>
          </a:prstGeom>
        </p:spPr>
        <p:txBody>
          <a:bodyPr wrap="square">
            <a:spAutoFit/>
          </a:bodyPr>
          <a:lstStyle/>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Only the person with correct login id and password will be able to access the information.</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need for middleman (like post man, courier companies) is eliminated. </a:t>
            </a:r>
          </a:p>
          <a:p>
            <a:pPr algn="just" fontAlgn="base">
              <a:spcAft>
                <a:spcPts val="750"/>
              </a:spcAft>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The system offers an optimal, time saving, secure, clean, efficient and one place solution for all information related problem.</a:t>
            </a:r>
          </a:p>
        </p:txBody>
      </p:sp>
    </p:spTree>
    <p:extLst>
      <p:ext uri="{BB962C8B-B14F-4D97-AF65-F5344CB8AC3E}">
        <p14:creationId xmlns:p14="http://schemas.microsoft.com/office/powerpoint/2010/main" val="3599512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https://cdncontribute.geeksforgeeks.org/wp-content/uploads/PrototypingConcept.jpg">
            <a:extLst>
              <a:ext uri="{FF2B5EF4-FFF2-40B4-BE49-F238E27FC236}">
                <a16:creationId xmlns:a16="http://schemas.microsoft.com/office/drawing/2014/main" id="{0A1087E7-940F-45C0-A631-0676A9C3186C}"/>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43176" y="2800350"/>
            <a:ext cx="6720522" cy="3266440"/>
          </a:xfrm>
          <a:prstGeom prst="rect">
            <a:avLst/>
          </a:prstGeom>
          <a:noFill/>
          <a:ln>
            <a:noFill/>
          </a:ln>
        </p:spPr>
      </p:pic>
      <p:sp>
        <p:nvSpPr>
          <p:cNvPr id="4" name="Rectangle 3">
            <a:extLst>
              <a:ext uri="{FF2B5EF4-FFF2-40B4-BE49-F238E27FC236}">
                <a16:creationId xmlns:a16="http://schemas.microsoft.com/office/drawing/2014/main" id="{C0A424AA-A729-4A8E-A55C-D99E4DC2E023}"/>
              </a:ext>
            </a:extLst>
          </p:cNvPr>
          <p:cNvSpPr/>
          <p:nvPr/>
        </p:nvSpPr>
        <p:spPr>
          <a:xfrm>
            <a:off x="352425" y="583099"/>
            <a:ext cx="11468100" cy="1487587"/>
          </a:xfrm>
          <a:prstGeom prst="rect">
            <a:avLst/>
          </a:prstGeom>
        </p:spPr>
        <p:txBody>
          <a:bodyPr wrap="square">
            <a:spAutoFit/>
          </a:bodyPr>
          <a:lstStyle/>
          <a:p>
            <a:pPr algn="just" fontAlgn="base">
              <a:spcAft>
                <a:spcPts val="750"/>
              </a:spcAft>
            </a:pPr>
            <a:r>
              <a:rPr lang="en-US" sz="2400" dirty="0">
                <a:latin typeface="Times New Roman" panose="02020603050405020304" pitchFamily="18" charset="0"/>
                <a:ea typeface="Times New Roman" panose="02020603050405020304" pitchFamily="18" charset="0"/>
                <a:cs typeface="Times New Roman" panose="02020603050405020304" pitchFamily="18" charset="0"/>
              </a:rPr>
              <a:t>Software Model: </a:t>
            </a:r>
          </a:p>
          <a:p>
            <a:pPr algn="just" fontAlgn="base">
              <a:spcAft>
                <a:spcPts val="750"/>
              </a:spcAft>
            </a:pPr>
            <a:r>
              <a:rPr lang="en-US" sz="2000" dirty="0">
                <a:latin typeface="Times New Roman" panose="02020603050405020304" pitchFamily="18" charset="0"/>
                <a:ea typeface="Times New Roman" panose="02020603050405020304" pitchFamily="18" charset="0"/>
                <a:cs typeface="Times New Roman" panose="02020603050405020304" pitchFamily="18" charset="0"/>
              </a:rPr>
              <a:t>Prototyping is defined as the process of developing a working replication of a product or system that has to be engineered. It offers a small-scale facsimile of the end product and is used for obtaining customer feedback as described below:</a:t>
            </a:r>
          </a:p>
        </p:txBody>
      </p:sp>
    </p:spTree>
    <p:extLst>
      <p:ext uri="{BB962C8B-B14F-4D97-AF65-F5344CB8AC3E}">
        <p14:creationId xmlns:p14="http://schemas.microsoft.com/office/powerpoint/2010/main" val="1992176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https://cdncontribute.geeksforgeeks.org/wp-content/uploads/PrototypeModel.jpeg">
            <a:extLst>
              <a:ext uri="{FF2B5EF4-FFF2-40B4-BE49-F238E27FC236}">
                <a16:creationId xmlns:a16="http://schemas.microsoft.com/office/drawing/2014/main" id="{34AFB606-4AE1-47CC-B42B-9EB7927E2D3B}"/>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07042" y="0"/>
            <a:ext cx="5930265" cy="6858000"/>
          </a:xfrm>
          <a:prstGeom prst="rect">
            <a:avLst/>
          </a:prstGeom>
          <a:noFill/>
          <a:ln>
            <a:noFill/>
          </a:ln>
        </p:spPr>
      </p:pic>
    </p:spTree>
    <p:extLst>
      <p:ext uri="{BB962C8B-B14F-4D97-AF65-F5344CB8AC3E}">
        <p14:creationId xmlns:p14="http://schemas.microsoft.com/office/powerpoint/2010/main" val="25051048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294A800-8CED-47F2-8DA4-EAAD0B758FD3}"/>
              </a:ext>
            </a:extLst>
          </p:cNvPr>
          <p:cNvSpPr/>
          <p:nvPr/>
        </p:nvSpPr>
        <p:spPr>
          <a:xfrm>
            <a:off x="447675" y="352425"/>
            <a:ext cx="11077575" cy="3293274"/>
          </a:xfrm>
          <a:prstGeom prst="rect">
            <a:avLst/>
          </a:prstGeom>
        </p:spPr>
        <p:txBody>
          <a:bodyPr wrap="square">
            <a:spAutoFit/>
          </a:bodyPr>
          <a:lstStyle/>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Technology used: </a:t>
            </a: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Front end –</a:t>
            </a:r>
          </a:p>
          <a:p>
            <a:pPr marL="342900" indent="-342900" algn="just">
              <a:lnSpc>
                <a:spcPct val="107000"/>
              </a:lnSpc>
              <a:spcAft>
                <a:spcPts val="800"/>
              </a:spcAf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HTML  </a:t>
            </a:r>
          </a:p>
          <a:p>
            <a:pPr marL="342900" indent="-342900" algn="just">
              <a:lnSpc>
                <a:spcPct val="107000"/>
              </a:lnSpc>
              <a:spcAft>
                <a:spcPts val="800"/>
              </a:spcAf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CSS</a:t>
            </a:r>
          </a:p>
          <a:p>
            <a:pPr marL="342900" indent="-342900" algn="just">
              <a:lnSpc>
                <a:spcPct val="107000"/>
              </a:lnSpc>
              <a:spcAft>
                <a:spcPts val="800"/>
              </a:spcAft>
              <a:buAutoNum type="arabicPeriod"/>
            </a:pPr>
            <a:r>
              <a:rPr lang="en-US" dirty="0">
                <a:latin typeface="Times New Roman" panose="02020603050405020304" pitchFamily="18" charset="0"/>
                <a:ea typeface="Calibri" panose="020F0502020204030204" pitchFamily="34" charset="0"/>
                <a:cs typeface="Times New Roman" panose="02020603050405020304" pitchFamily="18" charset="0"/>
              </a:rPr>
              <a:t>PHP</a:t>
            </a:r>
          </a:p>
          <a:p>
            <a:pPr marL="342900" indent="-342900" algn="just">
              <a:lnSpc>
                <a:spcPct val="107000"/>
              </a:lnSpc>
              <a:spcAft>
                <a:spcPts val="800"/>
              </a:spcAft>
              <a:buAutoNum type="arabicPeriod"/>
            </a:pPr>
            <a:endParaRPr lang="en-US" sz="16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BACK END </a:t>
            </a:r>
          </a:p>
          <a:p>
            <a:pPr algn="just">
              <a:lnSpc>
                <a:spcPct val="107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MYSQL</a:t>
            </a:r>
          </a:p>
        </p:txBody>
      </p:sp>
    </p:spTree>
    <p:extLst>
      <p:ext uri="{BB962C8B-B14F-4D97-AF65-F5344CB8AC3E}">
        <p14:creationId xmlns:p14="http://schemas.microsoft.com/office/powerpoint/2010/main" val="16380452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8C94C31-BE01-4A17-BEFB-309717C84DB4}"/>
              </a:ext>
            </a:extLst>
          </p:cNvPr>
          <p:cNvSpPr/>
          <p:nvPr/>
        </p:nvSpPr>
        <p:spPr>
          <a:xfrm>
            <a:off x="247650" y="247649"/>
            <a:ext cx="11668125" cy="3781869"/>
          </a:xfrm>
          <a:prstGeom prst="rect">
            <a:avLst/>
          </a:prstGeom>
        </p:spPr>
        <p:txBody>
          <a:bodyPr wrap="square">
            <a:spAutoFit/>
          </a:bodyPr>
          <a:lstStyle/>
          <a:p>
            <a:pPr marL="457200" indent="-457200" algn="just">
              <a:lnSpc>
                <a:spcPct val="107000"/>
              </a:lnSpc>
              <a:spcAft>
                <a:spcPts val="800"/>
              </a:spcAft>
              <a:buAutoNum type="arabicPeriod"/>
            </a:pPr>
            <a:r>
              <a:rPr lang="en-US" sz="2400" dirty="0">
                <a:latin typeface="Times New Roman" panose="02020603050405020304" pitchFamily="18" charset="0"/>
                <a:ea typeface="Calibri" panose="020F0502020204030204" pitchFamily="34" charset="0"/>
                <a:cs typeface="Mangal" panose="02040503050203030202" pitchFamily="18" charset="0"/>
              </a:rPr>
              <a:t>HTML  </a:t>
            </a:r>
          </a:p>
          <a:p>
            <a:pPr marL="457200" indent="-457200" algn="just">
              <a:lnSpc>
                <a:spcPct val="107000"/>
              </a:lnSpc>
              <a:spcAft>
                <a:spcPts val="800"/>
              </a:spcAft>
              <a:buAutoNum type="arabicPeriod"/>
            </a:pPr>
            <a:endParaRPr lang="en-US" sz="24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Mangal" panose="02040503050203030202" pitchFamily="18" charset="0"/>
              </a:rPr>
              <a:t>HTML stands for </a:t>
            </a:r>
            <a:r>
              <a:rPr lang="en-US" sz="2000" b="1" u="sng" dirty="0">
                <a:latin typeface="Times New Roman" panose="02020603050405020304" pitchFamily="18" charset="0"/>
                <a:ea typeface="Calibri" panose="020F0502020204030204" pitchFamily="34" charset="0"/>
                <a:cs typeface="Mangal" panose="02040503050203030202" pitchFamily="18" charset="0"/>
              </a:rPr>
              <a:t>H</a:t>
            </a:r>
            <a:r>
              <a:rPr lang="en-US" sz="2000" dirty="0">
                <a:latin typeface="Times New Roman" panose="02020603050405020304" pitchFamily="18" charset="0"/>
                <a:ea typeface="Calibri" panose="020F0502020204030204" pitchFamily="34" charset="0"/>
                <a:cs typeface="Mangal" panose="02040503050203030202" pitchFamily="18" charset="0"/>
              </a:rPr>
              <a:t>yper</a:t>
            </a:r>
            <a:r>
              <a:rPr lang="en-US" sz="2000" b="1" u="sng" dirty="0">
                <a:latin typeface="Times New Roman" panose="02020603050405020304" pitchFamily="18" charset="0"/>
                <a:ea typeface="Calibri" panose="020F0502020204030204" pitchFamily="34" charset="0"/>
                <a:cs typeface="Mangal" panose="02040503050203030202" pitchFamily="18" charset="0"/>
              </a:rPr>
              <a:t>t</a:t>
            </a:r>
            <a:r>
              <a:rPr lang="en-US" sz="2000" dirty="0">
                <a:latin typeface="Times New Roman" panose="02020603050405020304" pitchFamily="18" charset="0"/>
                <a:ea typeface="Calibri" panose="020F0502020204030204" pitchFamily="34" charset="0"/>
                <a:cs typeface="Mangal" panose="02040503050203030202" pitchFamily="18" charset="0"/>
              </a:rPr>
              <a:t>ext </a:t>
            </a:r>
            <a:r>
              <a:rPr lang="en-US" sz="2000" b="1" u="sng" dirty="0">
                <a:latin typeface="Times New Roman" panose="02020603050405020304" pitchFamily="18" charset="0"/>
                <a:ea typeface="Calibri" panose="020F0502020204030204" pitchFamily="34" charset="0"/>
                <a:cs typeface="Mangal" panose="02040503050203030202" pitchFamily="18" charset="0"/>
              </a:rPr>
              <a:t>M</a:t>
            </a:r>
            <a:r>
              <a:rPr lang="en-US" sz="2000" dirty="0">
                <a:latin typeface="Times New Roman" panose="02020603050405020304" pitchFamily="18" charset="0"/>
                <a:ea typeface="Calibri" panose="020F0502020204030204" pitchFamily="34" charset="0"/>
                <a:cs typeface="Mangal" panose="02040503050203030202" pitchFamily="18" charset="0"/>
              </a:rPr>
              <a:t>arkup </a:t>
            </a:r>
            <a:r>
              <a:rPr lang="en-US" sz="2000" b="1" u="sng" dirty="0">
                <a:latin typeface="Times New Roman" panose="02020603050405020304" pitchFamily="18" charset="0"/>
                <a:ea typeface="Calibri" panose="020F0502020204030204" pitchFamily="34" charset="0"/>
                <a:cs typeface="Mangal" panose="02040503050203030202" pitchFamily="18" charset="0"/>
              </a:rPr>
              <a:t>L</a:t>
            </a:r>
            <a:r>
              <a:rPr lang="en-US" sz="2000" dirty="0">
                <a:latin typeface="Times New Roman" panose="02020603050405020304" pitchFamily="18" charset="0"/>
                <a:ea typeface="Calibri" panose="020F0502020204030204" pitchFamily="34" charset="0"/>
                <a:cs typeface="Mangal" panose="02040503050203030202" pitchFamily="18" charset="0"/>
              </a:rPr>
              <a:t>anguage, and it is the most widely used language to write Web Pages.</a:t>
            </a:r>
            <a:endParaRPr lang="en-US" sz="2000" dirty="0">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2000" b="1" dirty="0">
              <a:latin typeface="Times New Roman" panose="02020603050405020304" pitchFamily="18" charset="0"/>
              <a:ea typeface="Calibri" panose="020F0502020204030204" pitchFamily="34" charset="0"/>
              <a:cs typeface="Mangal" panose="02040503050203030202"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b="1" dirty="0">
                <a:latin typeface="Times New Roman" panose="02020603050405020304" pitchFamily="18" charset="0"/>
                <a:ea typeface="Calibri" panose="020F0502020204030204" pitchFamily="34" charset="0"/>
                <a:cs typeface="Mangal" panose="02040503050203030202" pitchFamily="18" charset="0"/>
              </a:rPr>
              <a:t>Hypertext</a:t>
            </a:r>
            <a:r>
              <a:rPr lang="en-US" sz="2000" dirty="0">
                <a:latin typeface="Times New Roman" panose="02020603050405020304" pitchFamily="18" charset="0"/>
                <a:ea typeface="Calibri" panose="020F0502020204030204" pitchFamily="34" charset="0"/>
                <a:cs typeface="Mangal" panose="02040503050203030202" pitchFamily="18" charset="0"/>
              </a:rPr>
              <a:t> refers to the way in which Web pages (HTML documents) are linked together. Thus, the link available on a webpage is called Hypertext.</a:t>
            </a:r>
          </a:p>
          <a:p>
            <a:pPr marR="0" lvl="0" algn="just">
              <a:lnSpc>
                <a:spcPct val="107000"/>
              </a:lnSpc>
              <a:spcBef>
                <a:spcPts val="0"/>
              </a:spcBef>
              <a:spcAft>
                <a:spcPts val="800"/>
              </a:spcAft>
              <a:buSzPts val="1000"/>
              <a:tabLst>
                <a:tab pos="457200" algn="l"/>
              </a:tabLst>
            </a:pPr>
            <a:endParaRPr lang="en-US" sz="2000" dirty="0">
              <a:latin typeface="Calibri" panose="020F0502020204030204" pitchFamily="34" charset="0"/>
              <a:ea typeface="Calibri" panose="020F0502020204030204" pitchFamily="34" charset="0"/>
              <a:cs typeface="Mangal" panose="02040503050203030202"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Mangal" panose="02040503050203030202" pitchFamily="18" charset="0"/>
              </a:rPr>
              <a:t>As its name suggests, HTML is a </a:t>
            </a:r>
            <a:r>
              <a:rPr lang="en-US" sz="2000" b="1" dirty="0">
                <a:latin typeface="Times New Roman" panose="02020603050405020304" pitchFamily="18" charset="0"/>
                <a:ea typeface="Calibri" panose="020F0502020204030204" pitchFamily="34" charset="0"/>
                <a:cs typeface="Mangal" panose="02040503050203030202" pitchFamily="18" charset="0"/>
              </a:rPr>
              <a:t>Markup Language</a:t>
            </a:r>
            <a:r>
              <a:rPr lang="en-US" sz="2000" dirty="0">
                <a:latin typeface="Times New Roman" panose="02020603050405020304" pitchFamily="18" charset="0"/>
                <a:ea typeface="Calibri" panose="020F0502020204030204" pitchFamily="34" charset="0"/>
                <a:cs typeface="Mangal" panose="02040503050203030202" pitchFamily="18" charset="0"/>
              </a:rPr>
              <a:t> which means you use HTML to simply "mark-up" a text document with tags that tell a Web browser how to structure it to display</a:t>
            </a:r>
            <a:r>
              <a:rPr lang="en-US" dirty="0">
                <a:latin typeface="Times New Roman" panose="02020603050405020304" pitchFamily="18" charset="0"/>
                <a:ea typeface="Calibri" panose="020F0502020204030204" pitchFamily="34" charset="0"/>
                <a:cs typeface="Mangal" panose="02040503050203030202" pitchFamily="18" charset="0"/>
              </a:rPr>
              <a:t>.</a:t>
            </a:r>
            <a:endParaRPr lang="en-US"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821059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2E6C5D2-77ED-42AF-A8DD-2A4B0888189B}"/>
              </a:ext>
            </a:extLst>
          </p:cNvPr>
          <p:cNvSpPr/>
          <p:nvPr/>
        </p:nvSpPr>
        <p:spPr>
          <a:xfrm>
            <a:off x="323850" y="285751"/>
            <a:ext cx="11487150" cy="4116512"/>
          </a:xfrm>
          <a:prstGeom prst="rect">
            <a:avLst/>
          </a:prstGeom>
        </p:spPr>
        <p:txBody>
          <a:bodyPr wrap="square">
            <a:spAutoFit/>
          </a:bodyPr>
          <a:lstStyle/>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Mangal" panose="02040503050203030202" pitchFamily="18" charset="0"/>
              </a:rPr>
              <a:t>2. CSS</a:t>
            </a:r>
          </a:p>
          <a:p>
            <a:pPr algn="just">
              <a:lnSpc>
                <a:spcPct val="107000"/>
              </a:lnSpc>
              <a:spcAft>
                <a:spcPts val="800"/>
              </a:spcAft>
            </a:pPr>
            <a:endParaRPr lang="en-US" sz="24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Mangal" panose="02040503050203030202" pitchFamily="18" charset="0"/>
              </a:rPr>
              <a:t>Cascading Style Sheets, fondly referred to as CSS, is a simple design language intended to simplify the process of making web pages presentable.</a:t>
            </a:r>
            <a:endParaRPr lang="en-US" sz="20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endParaRPr lang="en-US" sz="2000" dirty="0">
              <a:latin typeface="Times New Roman" panose="02020603050405020304" pitchFamily="18" charset="0"/>
              <a:ea typeface="Calibri" panose="020F0502020204030204" pitchFamily="34" charset="0"/>
              <a:cs typeface="Mangal" panose="02040503050203030202"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Mangal" panose="02040503050203030202" pitchFamily="18" charset="0"/>
              </a:rPr>
              <a:t>CSS handles the look and feel part of a web page. </a:t>
            </a:r>
          </a:p>
          <a:p>
            <a:pPr algn="just">
              <a:lnSpc>
                <a:spcPct val="107000"/>
              </a:lnSpc>
              <a:spcAft>
                <a:spcPts val="800"/>
              </a:spcAft>
            </a:pPr>
            <a:endParaRPr lang="en-US" sz="2000" dirty="0">
              <a:latin typeface="Times New Roman" panose="02020603050405020304" pitchFamily="18" charset="0"/>
              <a:ea typeface="Calibri" panose="020F0502020204030204" pitchFamily="34" charset="0"/>
              <a:cs typeface="Mangal" panose="02040503050203030202"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Mangal" panose="02040503050203030202" pitchFamily="18" charset="0"/>
              </a:rPr>
              <a:t>Using CSS, you can control the color of the text, the style of fonts, the spacing between paragraphs, how columns are sized and laid out, what background images or colors are used, layout designs, variations in display for different devices and screen sizes as well as a variety of other effects.</a:t>
            </a:r>
            <a:endParaRPr lang="en-US" sz="20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8220812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C430C5D-BC16-4913-9081-F905F7D6938B}"/>
              </a:ext>
            </a:extLst>
          </p:cNvPr>
          <p:cNvSpPr/>
          <p:nvPr/>
        </p:nvSpPr>
        <p:spPr>
          <a:xfrm>
            <a:off x="390525" y="366010"/>
            <a:ext cx="11525250" cy="3242298"/>
          </a:xfrm>
          <a:prstGeom prst="rect">
            <a:avLst/>
          </a:prstGeom>
        </p:spPr>
        <p:txBody>
          <a:bodyPr wrap="square">
            <a:spAutoFit/>
          </a:bodyPr>
          <a:lstStyle/>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Mangal" panose="02040503050203030202" pitchFamily="18" charset="0"/>
              </a:rPr>
              <a:t>3.PHP</a:t>
            </a:r>
          </a:p>
          <a:p>
            <a:pPr algn="just">
              <a:lnSpc>
                <a:spcPct val="107000"/>
              </a:lnSpc>
              <a:spcAft>
                <a:spcPts val="800"/>
              </a:spcAft>
            </a:pPr>
            <a:endParaRPr lang="en-US" sz="2400" dirty="0">
              <a:latin typeface="Calibri" panose="020F0502020204030204" pitchFamily="34" charset="0"/>
              <a:ea typeface="Calibri" panose="020F0502020204030204" pitchFamily="34" charset="0"/>
              <a:cs typeface="Mangal" panose="02040503050203030202" pitchFamily="18" charset="0"/>
            </a:endParaRPr>
          </a:p>
          <a:p>
            <a:r>
              <a:rPr lang="en-US" sz="2000" dirty="0">
                <a:latin typeface="Times New Roman" panose="02020603050405020304" pitchFamily="18" charset="0"/>
                <a:ea typeface="Calibri" panose="020F0502020204030204" pitchFamily="34" charset="0"/>
              </a:rPr>
              <a:t>PHP is a general-purpose scripting language that is especially suited to server-side web development, in which case PHP generally runs on a web server.</a:t>
            </a:r>
          </a:p>
          <a:p>
            <a:endParaRPr lang="en-US" sz="2000" dirty="0">
              <a:latin typeface="Times New Roman" panose="02020603050405020304" pitchFamily="18" charset="0"/>
              <a:ea typeface="Calibri" panose="020F0502020204030204" pitchFamily="34" charset="0"/>
            </a:endParaRPr>
          </a:p>
          <a:p>
            <a:r>
              <a:rPr lang="en-US" sz="2000" dirty="0">
                <a:latin typeface="Times New Roman" panose="02020603050405020304" pitchFamily="18" charset="0"/>
                <a:ea typeface="Calibri" panose="020F0502020204030204" pitchFamily="34" charset="0"/>
              </a:rPr>
              <a:t> Any PHP code in a requested file is executed by the PHP runtime, usually to create dynamic web page content or dynamic images used on websites or elsewhere.</a:t>
            </a:r>
          </a:p>
          <a:p>
            <a:endParaRPr lang="en-US" sz="2000" dirty="0">
              <a:latin typeface="Times New Roman" panose="02020603050405020304" pitchFamily="18" charset="0"/>
              <a:ea typeface="Calibri" panose="020F0502020204030204" pitchFamily="34" charset="0"/>
            </a:endParaRPr>
          </a:p>
          <a:p>
            <a:r>
              <a:rPr lang="en-US" sz="2000" dirty="0">
                <a:latin typeface="Times New Roman" panose="02020603050405020304" pitchFamily="18" charset="0"/>
                <a:ea typeface="Calibri" panose="020F0502020204030204" pitchFamily="34" charset="0"/>
              </a:rPr>
              <a:t> It can also be used for command-line scripting and client-side graphical user interface (GUI) applications</a:t>
            </a:r>
            <a:endParaRPr lang="en-US" sz="2000" dirty="0"/>
          </a:p>
        </p:txBody>
      </p:sp>
    </p:spTree>
    <p:extLst>
      <p:ext uri="{BB962C8B-B14F-4D97-AF65-F5344CB8AC3E}">
        <p14:creationId xmlns:p14="http://schemas.microsoft.com/office/powerpoint/2010/main" val="32031911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703812-C244-4FA0-BF67-2E7B0EC0DB35}"/>
              </a:ext>
            </a:extLst>
          </p:cNvPr>
          <p:cNvSpPr/>
          <p:nvPr/>
        </p:nvSpPr>
        <p:spPr>
          <a:xfrm>
            <a:off x="314324" y="381000"/>
            <a:ext cx="11401425" cy="5545621"/>
          </a:xfrm>
          <a:prstGeom prst="rect">
            <a:avLst/>
          </a:prstGeom>
        </p:spPr>
        <p:txBody>
          <a:bodyPr wrap="square">
            <a:spAutoFit/>
          </a:bodyPr>
          <a:lstStyle/>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Times New Roman" panose="02020603050405020304" pitchFamily="18" charset="0"/>
              </a:rPr>
              <a:t>Back end </a:t>
            </a: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a fast, easy-to-use RDBMS being used for many small and big businesses. </a:t>
            </a:r>
          </a:p>
          <a:p>
            <a:pPr algn="just">
              <a:lnSpc>
                <a:spcPct val="107000"/>
              </a:lnSpc>
              <a:spcAft>
                <a:spcPts val="800"/>
              </a:spcAf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developed, marketed and supported by MySQL AB, which is a Swedish company. </a:t>
            </a:r>
          </a:p>
          <a:p>
            <a:pPr algn="just">
              <a:lnSpc>
                <a:spcPct val="107000"/>
              </a:lnSpc>
              <a:spcAft>
                <a:spcPts val="800"/>
              </a:spcAf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algn="just">
              <a:lnSpc>
                <a:spcPct val="107000"/>
              </a:lnSpc>
              <a:spcAft>
                <a:spcPts val="800"/>
              </a:spcAf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becoming so popular because of many good reasons −</a:t>
            </a:r>
          </a:p>
          <a:p>
            <a:pPr algn="just">
              <a:lnSpc>
                <a:spcPct val="107000"/>
              </a:lnSpc>
              <a:spcAft>
                <a:spcPts val="800"/>
              </a:spcAf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released under an open-source license. So, you have nothing to pay to use it.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a very powerful program in its own right. It handles a large subset of the functionality of the most expensive and powerful database packages.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endParaRPr lang="en-US" sz="2000" dirty="0">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uses a standard form of the well-known SQL data language.</a:t>
            </a:r>
          </a:p>
        </p:txBody>
      </p:sp>
    </p:spTree>
    <p:extLst>
      <p:ext uri="{BB962C8B-B14F-4D97-AF65-F5344CB8AC3E}">
        <p14:creationId xmlns:p14="http://schemas.microsoft.com/office/powerpoint/2010/main" val="7747187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0682946-6EF9-440C-88C6-0C87079AC0F0}"/>
              </a:ext>
            </a:extLst>
          </p:cNvPr>
          <p:cNvSpPr/>
          <p:nvPr/>
        </p:nvSpPr>
        <p:spPr>
          <a:xfrm>
            <a:off x="319087" y="447675"/>
            <a:ext cx="11553825" cy="3944926"/>
          </a:xfrm>
          <a:prstGeom prst="rect">
            <a:avLst/>
          </a:prstGeom>
        </p:spPr>
        <p:txBody>
          <a:bodyPr wrap="square">
            <a:spAutoFit/>
          </a:bodyPr>
          <a:lstStyle/>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works on many operating systems and with many languages including PHP, PERL, C, C++, JAVA, etc.</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works very quickly and works well even with large data sets.</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very friendly to PHP, the most appreciated language for web development.</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supports large databases, up to 50 million rows or more in a table. The default file size limit for a table is 4GB, but you can increase this (if your operating system can handle it) to a theoretical limit of 8 million terabytes (TB).</a:t>
            </a:r>
          </a:p>
          <a:p>
            <a:pPr marL="342900" marR="0" lvl="0" indent="-342900" algn="just">
              <a:lnSpc>
                <a:spcPct val="107000"/>
              </a:lnSpc>
              <a:spcBef>
                <a:spcPts val="0"/>
              </a:spcBef>
              <a:spcAft>
                <a:spcPts val="800"/>
              </a:spcAft>
              <a:buSzPts val="1000"/>
              <a:buFont typeface="Symbol" panose="05050102010706020507" pitchFamily="18" charset="2"/>
              <a:buChar char=""/>
              <a:tabLst>
                <a:tab pos="457200" algn="l"/>
              </a:tabLst>
            </a:pPr>
            <a:r>
              <a:rPr lang="en-US" sz="2000" dirty="0">
                <a:latin typeface="Times New Roman" panose="02020603050405020304" pitchFamily="18" charset="0"/>
                <a:ea typeface="Calibri" panose="020F0502020204030204" pitchFamily="34" charset="0"/>
                <a:cs typeface="Times New Roman" panose="02020603050405020304" pitchFamily="18" charset="0"/>
              </a:rPr>
              <a:t>MySQL is customizable. The open-source GPL license allows programmers to modify the MySQL software to fit their own specific environments.</a:t>
            </a:r>
          </a:p>
          <a:p>
            <a:pPr algn="just">
              <a:lnSpc>
                <a:spcPct val="107000"/>
              </a:lnSpc>
              <a:spcAft>
                <a:spcPts val="800"/>
              </a:spcAft>
            </a:pPr>
            <a:r>
              <a:rPr lang="en-US" sz="2400" dirty="0">
                <a:latin typeface="Times New Roman" panose="02020603050405020304" pitchFamily="18" charset="0"/>
                <a:ea typeface="Calibri" panose="020F0502020204030204" pitchFamily="34" charset="0"/>
                <a:cs typeface="Mangal" panose="02040503050203030202" pitchFamily="18" charset="0"/>
              </a:rPr>
              <a:t> </a:t>
            </a:r>
            <a:endParaRPr lang="en-US" sz="1600" dirty="0">
              <a:effectLst/>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4520243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FA14EDE-2883-4212-A939-99DD5B778C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1999" cy="6858000"/>
          </a:xfrm>
          <a:prstGeom prst="rect">
            <a:avLst/>
          </a:prstGeom>
        </p:spPr>
      </p:pic>
    </p:spTree>
    <p:extLst>
      <p:ext uri="{BB962C8B-B14F-4D97-AF65-F5344CB8AC3E}">
        <p14:creationId xmlns:p14="http://schemas.microsoft.com/office/powerpoint/2010/main" val="21218779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von">
  <a:themeElements>
    <a:clrScheme name="Savon">
      <a:dk1>
        <a:sysClr val="windowText" lastClr="000000"/>
      </a:dk1>
      <a:lt1>
        <a:sysClr val="window" lastClr="FFFFFF"/>
      </a:lt1>
      <a:dk2>
        <a:srgbClr val="1485A4"/>
      </a:dk2>
      <a:lt2>
        <a:srgbClr val="E3DED1"/>
      </a:lt2>
      <a:accent1>
        <a:srgbClr val="1CADE4"/>
      </a:accent1>
      <a:accent2>
        <a:srgbClr val="2683C6"/>
      </a:accent2>
      <a:accent3>
        <a:srgbClr val="27CED7"/>
      </a:accent3>
      <a:accent4>
        <a:srgbClr val="42BA97"/>
      </a:accent4>
      <a:accent5>
        <a:srgbClr val="3E8853"/>
      </a:accent5>
      <a:accent6>
        <a:srgbClr val="62A39F"/>
      </a:accent6>
      <a:hlink>
        <a:srgbClr val="F49100"/>
      </a:hlink>
      <a:folHlink>
        <a:srgbClr val="739D9B"/>
      </a:folHlink>
    </a:clrScheme>
    <a:fontScheme name="Savon">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Savon">
      <a:fillStyleLst>
        <a:solidFill>
          <a:schemeClr val="phClr"/>
        </a:solidFill>
        <a:gradFill rotWithShape="1">
          <a:gsLst>
            <a:gs pos="0">
              <a:schemeClr val="phClr">
                <a:tint val="60000"/>
                <a:satMod val="105000"/>
                <a:lumMod val="105000"/>
              </a:schemeClr>
            </a:gs>
            <a:gs pos="100000">
              <a:schemeClr val="phClr">
                <a:tint val="65000"/>
                <a:satMod val="100000"/>
                <a:lumMod val="100000"/>
              </a:schemeClr>
            </a:gs>
            <a:gs pos="100000">
              <a:schemeClr val="phClr">
                <a:tint val="70000"/>
                <a:satMod val="100000"/>
                <a:lumMod val="100000"/>
              </a:schemeClr>
            </a:gs>
          </a:gsLst>
          <a:lin ang="5400000" scaled="0"/>
        </a:gradFill>
        <a:gradFill rotWithShape="1">
          <a:gsLst>
            <a:gs pos="0">
              <a:schemeClr val="phClr">
                <a:satMod val="100000"/>
                <a:lumMod val="100000"/>
              </a:schemeClr>
            </a:gs>
            <a:gs pos="50000">
              <a:schemeClr val="phClr">
                <a:shade val="99000"/>
                <a:satMod val="105000"/>
                <a:lumMod val="100000"/>
              </a:schemeClr>
            </a:gs>
            <a:gs pos="100000">
              <a:schemeClr val="phClr">
                <a:shade val="98000"/>
                <a:satMod val="105000"/>
                <a:lumMod val="100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38100" dist="12700" dir="5400000" algn="ctr" rotWithShape="0">
              <a:srgbClr val="000000">
                <a:alpha val="63000"/>
              </a:srgbClr>
            </a:outerShdw>
          </a:effectLst>
        </a:effectStyle>
        <a:effectStyle>
          <a:effectLst>
            <a:outerShdw blurRad="57150" dist="19050" dir="5400000" algn="ctr" rotWithShape="0">
              <a:srgbClr val="000000">
                <a:alpha val="63000"/>
              </a:srgbClr>
            </a:outerShdw>
          </a:effectLst>
          <a:scene3d>
            <a:camera prst="orthographicFront">
              <a:rot lat="0" lon="0" rev="0"/>
            </a:camera>
            <a:lightRig rig="flat" dir="tl">
              <a:rot lat="0" lon="0" rev="4200000"/>
            </a:lightRig>
          </a:scene3d>
          <a:sp3d prstMaterial="flat">
            <a:bevelT w="50800" h="63500" prst="riblet"/>
          </a:sp3d>
        </a:effectStyle>
      </a:effectStyleLst>
      <a:bgFillStyleLst>
        <a:solidFill>
          <a:schemeClr val="phClr"/>
        </a:solidFill>
        <a:gradFill rotWithShape="1">
          <a:gsLst>
            <a:gs pos="0">
              <a:schemeClr val="phClr">
                <a:tint val="90000"/>
                <a:shade val="92000"/>
                <a:satMod val="160000"/>
              </a:schemeClr>
            </a:gs>
            <a:gs pos="77000">
              <a:schemeClr val="phClr">
                <a:tint val="100000"/>
                <a:shade val="73000"/>
                <a:satMod val="155000"/>
              </a:schemeClr>
            </a:gs>
            <a:gs pos="100000">
              <a:schemeClr val="phClr">
                <a:tint val="100000"/>
                <a:shade val="67000"/>
                <a:satMod val="145000"/>
              </a:schemeClr>
            </a:gs>
          </a:gsLst>
          <a:lin ang="5400000" scaled="0"/>
        </a:gradFill>
        <a:blipFill rotWithShape="1">
          <a:blip xmlns:r="http://schemas.openxmlformats.org/officeDocument/2006/relationships" r:embed="rId1">
            <a:duotone>
              <a:schemeClr val="phClr">
                <a:tint val="95000"/>
              </a:schemeClr>
              <a:schemeClr val="phClr">
                <a:shade val="92000"/>
                <a:satMod val="115000"/>
              </a:schemeClr>
            </a:duotone>
          </a:blip>
          <a:tile tx="0" ty="0" sx="60000" sy="60000" flip="none" algn="tl"/>
        </a:blipFill>
      </a:bgFillStyleLst>
    </a:fmtScheme>
  </a:themeElements>
  <a:objectDefaults/>
  <a:extraClrSchemeLst/>
  <a:extLst>
    <a:ext uri="{05A4C25C-085E-4340-85A3-A5531E510DB2}">
      <thm15:themeFamily xmlns:thm15="http://schemas.microsoft.com/office/thememl/2012/main" name="Savon" id="{1306E473-ED32-493B-A2D0-240A757EDD34}" vid="{C20BADFE-D095-436F-9677-9264042809F0}"/>
    </a:ext>
  </a:extLst>
</a:theme>
</file>

<file path=docProps/app.xml><?xml version="1.0" encoding="utf-8"?>
<Properties xmlns="http://schemas.openxmlformats.org/officeDocument/2006/extended-properties" xmlns:vt="http://schemas.openxmlformats.org/officeDocument/2006/docPropsVTypes">
  <Template>TM03457510[[fn=Savon]]</Template>
  <TotalTime>581</TotalTime>
  <Words>1219</Words>
  <Application>Microsoft Office PowerPoint</Application>
  <PresentationFormat>Widescreen</PresentationFormat>
  <Paragraphs>125</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Calibri</vt:lpstr>
      <vt:lpstr>Century Gothic</vt:lpstr>
      <vt:lpstr>Garamond</vt:lpstr>
      <vt:lpstr>Roboto</vt:lpstr>
      <vt:lpstr>Symbol</vt:lpstr>
      <vt:lpstr>Times New Roman</vt:lpstr>
      <vt:lpstr>Savon</vt:lpstr>
      <vt:lpstr>PROJECT PRESENTATION </vt:lpstr>
      <vt:lpstr>PROJECT CENTRAL EXAMINATION SYSTEM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ankita mangla</dc:creator>
  <cp:lastModifiedBy>ankita mangla</cp:lastModifiedBy>
  <cp:revision>10</cp:revision>
  <dcterms:created xsi:type="dcterms:W3CDTF">2019-03-28T17:51:35Z</dcterms:created>
  <dcterms:modified xsi:type="dcterms:W3CDTF">2019-03-29T13:17:12Z</dcterms:modified>
</cp:coreProperties>
</file>